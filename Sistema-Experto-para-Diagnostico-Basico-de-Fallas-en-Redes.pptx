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</p:embeddedFont>
    <p:embeddedFont>
      <p:font typeface="Roboto Bold" panose="02000000000000000000" pitchFamily="2" charset="0"/>
      <p:regular r:id="rId20"/>
      <p:bold r:id="rId21"/>
    </p:embeddedFont>
    <p:embeddedFont>
      <p:font typeface="Roboto Light" panose="02000000000000000000" pitchFamily="2" charset="0"/>
      <p:regular r:id="rId22"/>
    </p:embeddedFont>
    <p:embeddedFont>
      <p:font typeface="Roboto Medium" panose="02000000000000000000" pitchFamily="2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91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3658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Sistema Experto para Diagnóstico Básico de Fallas en Redes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97721"/>
            <a:ext cx="4722763" cy="100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Sistemas Expertos e Inteligencia Artificial</a:t>
            </a:r>
            <a:endParaRPr lang="en-US" sz="950" dirty="0"/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Juan Sebastián García Redondo · David Alexander Acosta Pineda · Ashlee Valentina Tapia Medina · Sesiones 8 a 12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588906"/>
            <a:ext cx="857622" cy="233214"/>
          </a:xfrm>
          <a:prstGeom prst="roundRect">
            <a:avLst>
              <a:gd name="adj" fmla="val 17872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3999533" y="3626113"/>
            <a:ext cx="116599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ABP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844728" y="3273698"/>
            <a:ext cx="2708672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blurRad="101600" dist="50800" dir="16200000" algn="bl" rotWithShape="0">
              <a:srgbClr val="5A6ED8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919142" y="3626113"/>
            <a:ext cx="301704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INVESTIGACIÓN · ANÁLISIS · PRÁCTICA · SUSTENTACIÓN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9214"/>
            <a:ext cx="3267596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Objetivo del Taller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34269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los conceptos de </a:t>
            </a:r>
            <a:r>
              <a:rPr lang="en-US" sz="8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lógica de predicados, sistemas expertos, ontologías, grafos de conocimiento y aprendizaje supervisado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mediante investigación, análisis crítico y construcción de soluciones prácticas, integrados en el proyecto: </a:t>
            </a:r>
            <a:r>
              <a:rPr lang="en-US" sz="8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Experto para Diagnóstico Básico de Fallas en Redes</a:t>
            </a: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1766"/>
            <a:ext cx="562049" cy="674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0041" y="1504131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Sesión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60041" y="1740843"/>
            <a:ext cx="7487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Lógica de Predicados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066255"/>
            <a:ext cx="562049" cy="6744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0041" y="2178621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Sesión 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60041" y="2415332"/>
            <a:ext cx="7487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Expertos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740744"/>
            <a:ext cx="562049" cy="6744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0041" y="2853110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Sesión 10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160041" y="3089821"/>
            <a:ext cx="7487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Ontologías y Grafos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415233"/>
            <a:ext cx="562049" cy="6744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0041" y="3527599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Sesión 11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160041" y="3764310"/>
            <a:ext cx="7487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4089722"/>
            <a:ext cx="562049" cy="67448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60041" y="4202088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Sesión 12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160041" y="4438799"/>
            <a:ext cx="7487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Aprendizaje Supervisado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57374"/>
            <a:ext cx="989484" cy="233214"/>
          </a:xfrm>
          <a:prstGeom prst="roundRect">
            <a:avLst>
              <a:gd name="adj" fmla="val 17872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70533" y="694581"/>
            <a:ext cx="129785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 · SESIÓN 8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94014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Lógica de Predicados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96119" y="1513731"/>
            <a:ext cx="4722763" cy="2232720"/>
          </a:xfrm>
          <a:prstGeom prst="roundRect">
            <a:avLst>
              <a:gd name="adj" fmla="val 2333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00881" y="1518493"/>
            <a:ext cx="4713238" cy="1111597"/>
          </a:xfrm>
          <a:prstGeom prst="rect">
            <a:avLst/>
          </a:prstGeom>
          <a:solidFill>
            <a:srgbClr val="18256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624855" y="16424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Lógica Proposicional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55" y="1910730"/>
            <a:ext cx="44652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 proposiciones completas (verdaderas o falsas) con conectores ∧, ∨, ¬, →. Sencilla pero </a:t>
            </a: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menos expresiva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no representa "todos" o "algunos". Aplicable en circuitos booleanos y sistemas expertos simples.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0881" y="2630091"/>
            <a:ext cx="4713238" cy="1111597"/>
          </a:xfrm>
          <a:prstGeom prst="rect">
            <a:avLst/>
          </a:prstGeom>
          <a:solidFill>
            <a:srgbClr val="18256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00881" y="2630091"/>
            <a:ext cx="4713238" cy="14288"/>
          </a:xfrm>
          <a:prstGeom prst="roundRect">
            <a:avLst>
              <a:gd name="adj" fmla="val 364638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24855" y="27540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Lógica de Predicados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855" y="3022327"/>
            <a:ext cx="44652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Extiende la proposicional con objetos, variables, predicados y cuantificadores </a:t>
            </a: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∀ y ∃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Altamente expresiva para conocimiento complejo, sistemas expertos avanzados y consultas semánticas, aunque con mayor costo computacional.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6119" y="3885977"/>
            <a:ext cx="4722763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Ejemplo de regla: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50" dirty="0">
                <a:solidFill>
                  <a:srgbClr val="CFD0D8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activar_alarma(X) :- puerta_abierta(X), horario_no_laboral(X)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 la puerta está abierta y es horario no laboral, el sistema activa la alarma y notifica al equipo de seguridad.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2943"/>
            <a:ext cx="989484" cy="233214"/>
          </a:xfrm>
          <a:prstGeom prst="roundRect">
            <a:avLst>
              <a:gd name="adj" fmla="val 17872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70533" y="1200150"/>
            <a:ext cx="129785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 · SESIÓN 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45716"/>
            <a:ext cx="74786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Base de Conocimiento en Prolog y Cuantificadores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2019300"/>
            <a:ext cx="4103191" cy="1961183"/>
          </a:xfrm>
          <a:prstGeom prst="roundRect">
            <a:avLst>
              <a:gd name="adj" fmla="val 4554"/>
            </a:avLst>
          </a:prstGeom>
          <a:solidFill>
            <a:srgbClr val="5A6ED8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30796" y="2143274"/>
            <a:ext cx="32126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Prolog: 10 hechos, 5 reglas, 5 consultas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61096"/>
            <a:ext cx="3855244" cy="1219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Hechos como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ping_falla(router_principal)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cable_desconectado(pc_finanzas)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alimentan reglas de diagnóstico. Ejemplo: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diagnostico(D, error_configuracion_dns) :- dns_incorrecto(D), usuario_reporta(D, no_abre_paginas_web)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Consultas: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?- diagnostico(pc_marketing, Falla)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?- diagnostico(X, falla_hardware_fisico)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677B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?- diagnostico(Equipo, Problema)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143274"/>
            <a:ext cx="29061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Cuantificadores en dominios reales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461096"/>
            <a:ext cx="3924598" cy="147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IoT: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∀x DispositivoIoT(x) → CifradoTLS(x) · ∃x SensorHumedad(x) ∧ BateriaBaja(x)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Ciberseguridad: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∀x IntentoLogin(x) ∧ OrigenListaNegra(x) → Bloqueado(x) · ∃x Usuario(x) ∧ EsAdministrador(x) ∧ PasswordPorDefecto(x)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Industria 4.0: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∀x BrazoRobotico(x) ∧ TemperaturaAlta(x) → ParadaEmergencia(x) · ∃x MaquinaCNC(x) ∧ VibracionAnomala(x)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8601"/>
            <a:ext cx="936501" cy="209178"/>
          </a:xfrm>
          <a:prstGeom prst="roundRect">
            <a:avLst>
              <a:gd name="adj" fmla="val 18369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64728" y="392906"/>
            <a:ext cx="1256481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II · SESIÓN 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9898"/>
            <a:ext cx="466591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 del Sistema Experto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25364"/>
            <a:ext cx="228674" cy="2286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485751"/>
            <a:ext cx="1435224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Base de Conocimiento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1727671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 hechos y reglas IF-THEN del dominio.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856" y="1125364"/>
            <a:ext cx="228674" cy="2286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856" y="1485751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Motor de Inferencia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637856" y="1727671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 hechos a reglas mediante encadenamiento hacia adelante o hacia atrás.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290167"/>
            <a:ext cx="228674" cy="2286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65055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Memoria de Trabajo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2892475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 los hechos específicos de la sesión actual.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856" y="2290167"/>
            <a:ext cx="228674" cy="2286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7856" y="265055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Interfaz de Usuario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37856" y="2892475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el intercambio de información entre usuario y sistema.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79130"/>
            <a:ext cx="228674" cy="2286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3639517"/>
            <a:ext cx="1465064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Módulo de Adquisición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96119" y="3881438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actualizar la base de conocimiento por expertos humanos.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856" y="3279130"/>
            <a:ext cx="228674" cy="22867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7856" y="3639517"/>
            <a:ext cx="144043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Módulo de Explicación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4637856" y="3881438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Justifica ante el usuario por qué se llegó a una conclusión.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96119" y="4175820"/>
            <a:ext cx="8151763" cy="609079"/>
          </a:xfrm>
          <a:prstGeom prst="roundRect">
            <a:avLst>
              <a:gd name="adj" fmla="val 7886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419" y="4332982"/>
            <a:ext cx="142875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67594" y="4309765"/>
            <a:ext cx="7665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Caso real: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Plataformas como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Cisco DNA Center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IBM QRadar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usan motores de reglas para correlacionar eventos de red (caídas de enlace, tráfico anómalo, fallos DNS) y generar diagnósticos automáticos, reduciendo el MTTR y documentando el razonamiento.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2648"/>
            <a:ext cx="793849" cy="168473"/>
          </a:xfrm>
          <a:prstGeom prst="roundRect">
            <a:avLst>
              <a:gd name="adj" fmla="val 1932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54236" y="381670"/>
            <a:ext cx="1134814" cy="11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II · SESIÓN 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51334"/>
            <a:ext cx="5173042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Las 15 Reglas IF-THEN del Sistema Experto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96119" y="967755"/>
            <a:ext cx="8151763" cy="3823097"/>
          </a:xfrm>
          <a:prstGeom prst="roundRect">
            <a:avLst>
              <a:gd name="adj" fmla="val 106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0881" y="972517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7843" y="1022672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51570" y="1022672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Condición (IF)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96979" y="1022672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Diagnóstico + Acción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0881" y="1210866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97843" y="1261021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51570" y="1261021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ethernet + led apagado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96979" y="1261021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Falla enlace físico → verificar cable UTP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0881" y="1449214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7843" y="1499369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51570" y="1499369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 + led rojo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96979" y="1499369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Pérdida señal WAN → reiniciar router / reportar ISP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0881" y="1687562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97843" y="1737717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51570" y="1737717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 APIPA + ping fallido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96979" y="1737717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DHCP → ipconfig /renew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0881" y="1925910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97843" y="1976065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51570" y="1976065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 válida + ping fallido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96979" y="1976065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Aislamiento/firewall → desactivar firewall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0881" y="2164259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97843" y="2214414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51570" y="2214414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ping router OK + ping DNS fallido + sin web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96979" y="2214414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Caída WAN → validar con ISP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0881" y="2402607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97843" y="2452762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51570" y="2452762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ping DNS OK + resolución falla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96979" y="2452762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Fallo DNS → usar 8.8.8.8 / 1.1.1.1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0881" y="2640955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97843" y="2691110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51570" y="2691110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parcial + DNS OK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96979" y="2691110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Saturación ancho de banda → Speedtest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0881" y="2879303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597843" y="2929458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251570" y="2929458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 + autenticación rechazada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96979" y="2929458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Fallo credenciales WPA2/WPA3 → reingresar clave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00881" y="3117652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97843" y="3167807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251570" y="3167807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ping router OK + web parcial + portal cautivo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96979" y="3167807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Bloqueo portal → abrir navegador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0881" y="3356000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597843" y="3406155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251570" y="3406155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IP + ethernet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96979" y="3406155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Adaptador deshabilitado → habilitar / reinstalar drivers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0881" y="3594348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597843" y="3644503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251570" y="3644503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parcial + led parpadeante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996979" y="3644503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Pérdida intermitente → verificar atenuación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00881" y="3832696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597843" y="3882851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251570" y="3882851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DNS OK + sin web + ping DNS OK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996979" y="3882851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Bloqueo puertos 80/443 → revisar proxy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00881" y="4071045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597843" y="4121200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251570" y="4121200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 + ping fallido + led verde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996979" y="4121200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Saturación canales WiFi → cambiar canal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00881" y="4309393"/>
            <a:ext cx="8142238" cy="2383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97843" y="4359548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51570" y="4359548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OK + sin web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996979" y="4359548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parental / ACL → revisar filtrado MAC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00881" y="4547741"/>
            <a:ext cx="8142238" cy="2383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597843" y="4597896"/>
            <a:ext cx="91239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251570" y="4597896"/>
            <a:ext cx="4004072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 apagado + wifi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996979" y="4597896"/>
            <a:ext cx="4006453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 sin energía → verificar alimentación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1698"/>
            <a:ext cx="1064493" cy="223391"/>
          </a:xfrm>
          <a:prstGeom prst="roundRect">
            <a:avLst>
              <a:gd name="adj" fmla="val 18075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68151" y="407715"/>
            <a:ext cx="1377628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III · SESIÓN 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1598"/>
            <a:ext cx="5456262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Ontologías y Grafos de Conocimiento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308050"/>
            <a:ext cx="217884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Comparativa de enfoques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626691"/>
            <a:ext cx="3929286" cy="2098849"/>
          </a:xfrm>
          <a:prstGeom prst="roundRect">
            <a:avLst>
              <a:gd name="adj" fmla="val 240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21134" y="1706017"/>
            <a:ext cx="15472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56197" y="1706017"/>
            <a:ext cx="15056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9662" y="1706017"/>
            <a:ext cx="150807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Ontología / Grafo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134" y="2049140"/>
            <a:ext cx="15472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Esquema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56197" y="2049140"/>
            <a:ext cx="15056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Rígido, tablas fijas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9662" y="2049140"/>
            <a:ext cx="105087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Flexible, clases y nodos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134" y="2581498"/>
            <a:ext cx="15472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Semántica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56197" y="2581498"/>
            <a:ext cx="15056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Ninguna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9662" y="2581498"/>
            <a:ext cx="105087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 (OWL, SPARQL)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134" y="3113856"/>
            <a:ext cx="15472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56197" y="3113856"/>
            <a:ext cx="15056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soporta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9662" y="3113856"/>
            <a:ext cx="150807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(Pellet, HermiT)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134" y="3456980"/>
            <a:ext cx="15472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56197" y="3456980"/>
            <a:ext cx="15056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MySQL, Oracle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9662" y="3456980"/>
            <a:ext cx="150807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Protégé, Neo4j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36815" y="1191667"/>
            <a:ext cx="4102373" cy="2664768"/>
          </a:xfrm>
          <a:prstGeom prst="roundRect">
            <a:avLst>
              <a:gd name="adj" fmla="val 3247"/>
            </a:avLst>
          </a:prstGeom>
          <a:solidFill>
            <a:srgbClr val="5A6ED8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56919" y="1308050"/>
            <a:ext cx="19593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Ontología en Protégé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6919" y="1612181"/>
            <a:ext cx="3862164" cy="1534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clases: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Dispositivo, Usuario, Falla, Regla_Diagnostico, Accion_Correctiva.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 individuos: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router_principal, switch_piso1, pc_marketing, falla_hardware_fisico, conflicto_ip, reiniciar_router, verificar_cable_utp, entre otros.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relaciones: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presentaFalla, requiereAccion, reportadaPor, conectadoA, diagnosticadaPor.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6119" y="4031010"/>
            <a:ext cx="200404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Grafo de Conocimiento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6119" y="4393332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 dispositivos, fallas y relaciones de conectividad a partir de los hechos de Prolog. Permite visualizar </a:t>
            </a:r>
            <a:r>
              <a:rPr lang="en-US" sz="9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causas raíz comunes</a:t>
            </a: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(ej. router_principal), soporta consultas de recorrido y hereda semántica formal de la ontología para inferencias automáticas.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6D4DAAC6-3153-5ED3-B26F-519DFBA4DB31}"/>
              </a:ext>
            </a:extLst>
          </p:cNvPr>
          <p:cNvSpPr/>
          <p:nvPr/>
        </p:nvSpPr>
        <p:spPr>
          <a:xfrm>
            <a:off x="1510018" y="232036"/>
            <a:ext cx="1136149" cy="223391"/>
          </a:xfrm>
          <a:prstGeom prst="roundRect">
            <a:avLst>
              <a:gd name="adj" fmla="val 18075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816BDD7C-23B7-1CAC-8671-6FE49299D82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10018" y="1387723"/>
            <a:ext cx="5980651" cy="3156620"/>
          </a:xfrm>
          <a:prstGeom prst="rect">
            <a:avLst/>
          </a:prstGeom>
          <a:ln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2503A74-8B25-DBFF-AEA6-2E1799AC9098}"/>
              </a:ext>
            </a:extLst>
          </p:cNvPr>
          <p:cNvSpPr txBox="1"/>
          <p:nvPr/>
        </p:nvSpPr>
        <p:spPr>
          <a:xfrm>
            <a:off x="2286000" y="45990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Grafos</a:t>
            </a: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Conocimiento</a:t>
            </a:r>
            <a:endParaRPr lang="es-CO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D5DC6F0-6702-1511-58B9-795F2FB7DBD6}"/>
              </a:ext>
            </a:extLst>
          </p:cNvPr>
          <p:cNvSpPr/>
          <p:nvPr/>
        </p:nvSpPr>
        <p:spPr>
          <a:xfrm>
            <a:off x="1597185" y="268053"/>
            <a:ext cx="1377628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III · SESIÓN 10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08930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9987"/>
            <a:ext cx="779115" cy="147340"/>
          </a:xfrm>
          <a:prstGeom prst="roundRect">
            <a:avLst>
              <a:gd name="adj" fmla="val 19890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432" y="396106"/>
            <a:ext cx="1131689" cy="95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IV · SESIÓN 11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1809"/>
            <a:ext cx="4128195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IA, Machine Learning y Deep Learning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68" y="906289"/>
            <a:ext cx="1345034" cy="466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72630" y="1119485"/>
            <a:ext cx="12263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93715" y="993502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293715" y="1166515"/>
            <a:ext cx="526695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Redes neuronales profundas para datos no estructurados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228305" y="1380976"/>
            <a:ext cx="5397773" cy="4763"/>
          </a:xfrm>
          <a:prstGeom prst="roundRect">
            <a:avLst>
              <a:gd name="adj" fmla="val 769105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988" y="1394296"/>
            <a:ext cx="2690068" cy="4662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72630" y="1550715"/>
            <a:ext cx="12263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66270" y="1481510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966270" y="1654522"/>
            <a:ext cx="459439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 patrones de datos históricos sin reglas explícitas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3900860" y="1868984"/>
            <a:ext cx="4725219" cy="4763"/>
          </a:xfrm>
          <a:prstGeom prst="roundRect">
            <a:avLst>
              <a:gd name="adj" fmla="val 769105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34" y="1882304"/>
            <a:ext cx="4035103" cy="4662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72630" y="2038722"/>
            <a:ext cx="12263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38749" y="1969517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Inteligencia Artificial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38749" y="2142530"/>
            <a:ext cx="392191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Campo más amplio: sistemas que emulan inteligencia humana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496119" y="2417490"/>
            <a:ext cx="815176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experto del punto 6 es </a:t>
            </a:r>
            <a:r>
              <a:rPr lang="en-US" sz="6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 basada en reglas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sin aprendizaje. El ML (implementado con Scikit-Learn) aprende de datos históricos. El DL no se requiere aquí, ya que los datos son tabulares y de baja dimensionalidad; un modelo clásico (árboles/bosques) es suficiente e interpretable.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496119" y="2746995"/>
            <a:ext cx="188528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Ciclo de vida del proyecto ML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96119" y="2975223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496119" y="3113931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8"/>
          <p:cNvSpPr/>
          <p:nvPr/>
        </p:nvSpPr>
        <p:spPr>
          <a:xfrm>
            <a:off x="496119" y="3176588"/>
            <a:ext cx="115401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Definición del problema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96119" y="3349600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Predecir diagnóstico de falla a partir de síntomas.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4602659" y="2975223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4602659" y="3113931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2"/>
          <p:cNvSpPr/>
          <p:nvPr/>
        </p:nvSpPr>
        <p:spPr>
          <a:xfrm>
            <a:off x="4602659" y="3176588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Recolección de datos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602659" y="3349600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sintético de 600 casos basado en las 15 reglas.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496119" y="3595092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496119" y="3733800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6"/>
          <p:cNvSpPr/>
          <p:nvPr/>
        </p:nvSpPr>
        <p:spPr>
          <a:xfrm>
            <a:off x="496119" y="3796457"/>
            <a:ext cx="1106612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Preparación y limpieza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496119" y="3969469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Codificación categórica, tratamiento de faltantes y balanceo.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4602659" y="3595092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4602659" y="3733800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0"/>
          <p:cNvSpPr/>
          <p:nvPr/>
        </p:nvSpPr>
        <p:spPr>
          <a:xfrm>
            <a:off x="4602659" y="3796457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Selección del modelo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4602659" y="3969469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Árbol de Decisión y Random Forest para clasificación multiclase.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496119" y="4214961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05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496119" y="4353669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4"/>
          <p:cNvSpPr/>
          <p:nvPr/>
        </p:nvSpPr>
        <p:spPr>
          <a:xfrm>
            <a:off x="496119" y="4416326"/>
            <a:ext cx="1343546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Entrenamiento y evaluación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496119" y="4589338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80/20 estratificado; Accuracy, Precision, Recall y F1-Score.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4602659" y="4214961"/>
            <a:ext cx="17442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06</a:t>
            </a:r>
            <a:endParaRPr lang="en-US" sz="650" dirty="0"/>
          </a:p>
        </p:txBody>
      </p:sp>
      <p:sp>
        <p:nvSpPr>
          <p:cNvPr id="42" name="Shape 37"/>
          <p:cNvSpPr/>
          <p:nvPr/>
        </p:nvSpPr>
        <p:spPr>
          <a:xfrm>
            <a:off x="4602659" y="4353669"/>
            <a:ext cx="4045223" cy="9525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38"/>
          <p:cNvSpPr/>
          <p:nvPr/>
        </p:nvSpPr>
        <p:spPr>
          <a:xfrm>
            <a:off x="4602659" y="4416326"/>
            <a:ext cx="1148507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Despliegue y monitoreo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4602659" y="4589338"/>
            <a:ext cx="404522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como segundo motor de diagnóstico; reentrenamiento periódico.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0634"/>
            <a:ext cx="1526753" cy="233214"/>
          </a:xfrm>
          <a:prstGeom prst="roundRect">
            <a:avLst>
              <a:gd name="adj" fmla="val 17872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70533" y="467841"/>
            <a:ext cx="183512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PARTE IV–V · SESIONES 11–12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13408"/>
            <a:ext cx="467528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y Modelo Supervisado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10965"/>
            <a:ext cx="25042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Dataset: 600 casos sintéticos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728788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variables categóricas de entrada (tipo_conexion, led_enlace_router, ip_asignada, ping_router, ping_dns_externo, resolucion_dns, acceso_web, autenticacion_usuario) y 1 variable objetivo: </a:t>
            </a: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diagnostico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(9 clases). Desbalance moderado con 5% de ruido simulado.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646611"/>
            <a:ext cx="23292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Clasificación vs. Regresión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964433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proyecto es </a:t>
            </a:r>
            <a:r>
              <a:rPr lang="en-US" sz="9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clasificación multiclase</a:t>
            </a: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(diagnóstico discreto). La regresión predice valores continuos (ej. tiempo de resolución de incidentes).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8749" y="1286991"/>
            <a:ext cx="4103191" cy="2591842"/>
          </a:xfrm>
          <a:prstGeom prst="roundRect">
            <a:avLst>
              <a:gd name="adj" fmla="val 3446"/>
            </a:avLst>
          </a:prstGeom>
          <a:solidFill>
            <a:srgbClr val="5A6ED8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62723" y="1410965"/>
            <a:ext cx="20412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Resultados del modelo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62723" y="1744340"/>
            <a:ext cx="3855244" cy="1287959"/>
          </a:xfrm>
          <a:prstGeom prst="roundRect">
            <a:avLst>
              <a:gd name="adj" fmla="val 404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91460" y="1828279"/>
            <a:ext cx="17451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32128" y="1828279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08986" y="1828279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Prec.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85844" y="1828279"/>
            <a:ext cx="32414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62702" y="1828279"/>
            <a:ext cx="7837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1460" y="2388319"/>
            <a:ext cx="17451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Árbol de Decisión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32128" y="2388319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08986" y="2388319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0.721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5844" y="2388319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0.631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62702" y="2388319"/>
            <a:ext cx="7837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0.657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1460" y="2749897"/>
            <a:ext cx="17451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32128" y="2749897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0.917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08986" y="2749897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0.923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5844" y="2749897"/>
            <a:ext cx="78134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0.835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62702" y="2749897"/>
            <a:ext cx="7837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0.859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2723" y="3171825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Random Forest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el algoritmo propuesto: mejor generalización, robustez ante desbalance e importancia de variables compatible con el módulo de explicación. Métrica principal: </a:t>
            </a: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F1-Score macro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6119" y="4018359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98144"/>
            <a:ext cx="155004" cy="12397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9071" y="4173289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Caso adicional: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Predicción de retrasos en rutas urbanas (regresión) — algoritmo sugerido: Random Forest Regressor o XGBoost; variables: hora, clima, congestión, paradas; métricas: MAE, RMSE, R².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6238"/>
            <a:ext cx="1021854" cy="164157"/>
          </a:xfrm>
          <a:prstGeom prst="roundRect">
            <a:avLst>
              <a:gd name="adj" fmla="val 19439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53045" y="404664"/>
            <a:ext cx="136520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ACTIVIDAD INTEGRADORA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9416"/>
            <a:ext cx="328508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Integración y Sustentación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96119" y="975196"/>
            <a:ext cx="2668786" cy="525438"/>
          </a:xfrm>
          <a:prstGeom prst="roundRect">
            <a:avLst>
              <a:gd name="adj" fmla="val 759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5833" y="1074911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Prolog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5833" y="1266825"/>
            <a:ext cx="246935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Prototipo lógico del motor de inferencia.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37607" y="975196"/>
            <a:ext cx="2668786" cy="525438"/>
          </a:xfrm>
          <a:prstGeom prst="roundRect">
            <a:avLst>
              <a:gd name="adj" fmla="val 759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337322" y="1074911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15 Reglas IF-THEN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322" y="1266825"/>
            <a:ext cx="246935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Diagnóstico operativo + acción sugerida.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979096" y="975196"/>
            <a:ext cx="2668786" cy="525438"/>
          </a:xfrm>
          <a:prstGeom prst="roundRect">
            <a:avLst>
              <a:gd name="adj" fmla="val 759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078810" y="1074911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Ontología OWL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78810" y="1266825"/>
            <a:ext cx="246935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Vocabulario semántico unificado (Protégé).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96119" y="1573337"/>
            <a:ext cx="4039493" cy="525438"/>
          </a:xfrm>
          <a:prstGeom prst="roundRect">
            <a:avLst>
              <a:gd name="adj" fmla="val 759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5833" y="1673051"/>
            <a:ext cx="1221879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Grafo de Conocimiento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5833" y="1864965"/>
            <a:ext cx="38400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 causas raíz y relaciones ocultas.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08314" y="1573337"/>
            <a:ext cx="4039567" cy="525438"/>
          </a:xfrm>
          <a:prstGeom prst="roundRect">
            <a:avLst>
              <a:gd name="adj" fmla="val 759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08029" y="1673051"/>
            <a:ext cx="134161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+ Random Forest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8029" y="1864965"/>
            <a:ext cx="3840138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 probabilístico complementario (F1: 0.859).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6119" y="2180555"/>
            <a:ext cx="8151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flujo integrado: primero diagnóstico determinista por reglas; si ninguna aplica, el ML entrega el diagnóstico más probable; grafo y ontología explican y trazan las relaciones detrás de la conclusión.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6119" y="2557760"/>
            <a:ext cx="222550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Agenda de Sustentación (15 min)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6119" y="3520976"/>
            <a:ext cx="8151763" cy="9525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623343" y="3236156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521321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556891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4579" y="2815084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0:00–2:00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1071" y="3006998"/>
            <a:ext cx="2074218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Presentación del proyecto ABP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800796" y="3520939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698775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734345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12107" y="390086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2:00–5:00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68525" y="4092773"/>
            <a:ext cx="20742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Lógica y Prolog en vivo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978325" y="3236156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876303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911873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9635" y="2815084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5:00–8:00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46053" y="3006998"/>
            <a:ext cx="20742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experto y arquitectura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55853" y="3520939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5053831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5089401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67163" y="390086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8:00–10:30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23581" y="4092773"/>
            <a:ext cx="20742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Ontología y grafo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33381" y="3236156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6231359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266929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44691" y="2815084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10:30–13:30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1109" y="3006998"/>
            <a:ext cx="20742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Dataset, modelo y métricas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510909" y="3520939"/>
            <a:ext cx="9525" cy="284857"/>
          </a:xfrm>
          <a:prstGeom prst="roundRect">
            <a:avLst>
              <a:gd name="adj" fmla="val 418779"/>
            </a:avLst>
          </a:prstGeom>
          <a:solidFill>
            <a:srgbClr val="313E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7408887" y="3414154"/>
            <a:ext cx="213643" cy="213643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7444457" y="343190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22219" y="390086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13:30–15:00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78637" y="4092773"/>
            <a:ext cx="20742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Conclusiones y preguntas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6119" y="4308649"/>
            <a:ext cx="8151763" cy="458539"/>
          </a:xfrm>
          <a:prstGeom prst="roundRect">
            <a:avLst>
              <a:gd name="adj" fmla="val 8699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71" y="4434706"/>
            <a:ext cx="118690" cy="9495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04714" y="4405089"/>
            <a:ext cx="7748215" cy="272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Entregables:</a:t>
            </a: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PDF · </a:t>
            </a:r>
            <a:r>
              <a:rPr lang="en-US" sz="700" dirty="0">
                <a:solidFill>
                  <a:srgbClr val="FFFFFF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diagnostico_red.pl</a:t>
            </a: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ontologia_diagnostico_red.owl</a:t>
            </a: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dataset_diagnostico_red.csv</a:t>
            </a: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modelo_supervisado_diagnostico_red.ipynb</a:t>
            </a: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Presentación · Evidencias colaborativas.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1551</Words>
  <Application>Microsoft Office PowerPoint</Application>
  <PresentationFormat>Presentación en pantalla (16:9)</PresentationFormat>
  <Paragraphs>221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Consolas</vt:lpstr>
      <vt:lpstr>Arial</vt:lpstr>
      <vt:lpstr>Roboto Bold</vt:lpstr>
      <vt:lpstr>Roboto Light</vt:lpstr>
      <vt:lpstr>Roboto Medium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SALA SOFTWARE LIC47</cp:lastModifiedBy>
  <cp:revision>3</cp:revision>
  <dcterms:created xsi:type="dcterms:W3CDTF">2026-07-06T14:30:17Z</dcterms:created>
  <dcterms:modified xsi:type="dcterms:W3CDTF">2026-07-06T14:40:13Z</dcterms:modified>
</cp:coreProperties>
</file>